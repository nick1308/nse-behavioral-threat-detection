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20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Welcome the panel, name the project in one line, introduce the team and guide briefly, then move to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quickly, one sentence each, so the panel knows the shape of the talk before content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core distinction: authentication checks who you are; behavior checks whether you're acting like yourself. That gap is the whole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literatures, reviewed for two different reasons: one gives us the domain, one gives us the method. Neither alone covers what we're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most likely to get a direct panel question: "what's actually new here?" The honest answer is domain application, not algorithmic novelty — say that plainly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stated as objectives, not promises kept in full — be upfront that FR-4 and full FR-8 evaluation are explicitly next-phase, not done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in order: one event goes in the top, one JSON risk score comes out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slide. If time allows, show the live /docs Swagger UI hitting /score in real time rather than just reading the JSON off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word "realistic" — this isn't a wishlist, it's the next two reviews' worth of scoped work, already reflected in DESIGN.md.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Q&amp;A so any citation challenge can be answered by pointing directly at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warmly, thank the guide by name, and invite questions. Have the References slide ready to flip back to if a citation is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T Chennai logo"/>
          <p:cNvPicPr>
            <a:picLocks noChangeAspect="1"/>
          </p:cNvPicPr>
          <p:nvPr/>
        </p:nvPicPr>
        <p:blipFill>
          <a:blip r:embed="rId3"/>
          <a:srcRect t="4" b="4"/>
          <a:stretch/>
        </p:blipFill>
        <p:spPr>
          <a:xfrm>
            <a:off x="2769079" y="178552"/>
            <a:ext cx="5426974" cy="1546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2053576"/>
            <a:ext cx="10137775" cy="112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Behavioral Threat Detection for Trading Systems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12800" y="3337768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UEBA-style, per-account behavioral anomaly detection platform for simulated trading systems, with explainable risk scoring.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800" y="489214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Ankit V – 25BYB1170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800" y="5199459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Tusya S – 25BYB1155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" y="5506773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Vishal Basker – 25BYB1225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2800" y="581408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Dr. Karmel A, Professor Grade -1, SCOPE, VIT Chennai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9353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talk covers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51278"/>
            <a:ext cx="10883392" cy="2585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– the problem: valid credentials, invalid behavior</a:t>
            </a:r>
            <a:endParaRPr lang="en-US" sz="2000" dirty="0"/>
          </a:p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– two literatures, and the gap between them</a:t>
            </a:r>
            <a:endParaRPr lang="en-US" sz="2000" dirty="0"/>
          </a:p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Research Gap – what makes this hard, and where we fit</a:t>
            </a:r>
            <a:endParaRPr lang="en-US" sz="2000" dirty="0"/>
          </a:p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 – what the system commits to achieving</a:t>
            </a:r>
            <a:endParaRPr lang="en-US" sz="2000" dirty="0"/>
          </a:p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 &amp; System Architecture – how the pipeline is designed and why</a:t>
            </a:r>
            <a:endParaRPr lang="en-US" sz="2000" dirty="0"/>
          </a:p>
          <a:p>
            <a:pPr marL="243840" indent="-243840" algn="l">
              <a:lnSpc>
                <a:spcPts val="336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Initial Implementation – what is actually built and working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56074"/>
            <a:ext cx="441470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Behavioral Threat Detection for Trading Systems · IDP Review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03331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 credentials do not mean valid behavior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20441"/>
            <a:ext cx="10883392" cy="2665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156718" algn="l">
              <a:lnSpc>
                <a:spcPts val="231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attacker with a stolen but valid password passes every login check — but in the common case, still behaves differently from the account's real owner (device, hours, order sizes). Authentication alone cannot catch this.</a:t>
            </a:r>
            <a:endParaRPr lang="en-US" dirty="0"/>
          </a:p>
          <a:p>
            <a:pPr marL="213360" indent="-156718" algn="l">
              <a:lnSpc>
                <a:spcPts val="231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premise of User and Entity Behavior Analytics (UEBA): build a behavioral baseline per account, and flag deviation from it. Well established in enterprise/insider-threat security [3] — not yet applied, in published literature, to individual trading accounts.</a:t>
            </a:r>
            <a:endParaRPr lang="en-US" dirty="0"/>
          </a:p>
          <a:p>
            <a:pPr marL="213360" indent="-156718" algn="l">
              <a:lnSpc>
                <a:spcPts val="231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market surveillance has its own mature literature — but it detects manipulation in price and order-book patterns, not individual account behavior [1][2].</a:t>
            </a:r>
            <a:endParaRPr lang="en-US" dirty="0"/>
          </a:p>
          <a:p>
            <a:pPr marL="213360" indent="-156718" algn="l">
              <a:lnSpc>
                <a:spcPts val="231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project applies behavioral analytics' method (per-account baselining) to market surveillance's domain (trading platforms) — a combination not directly studied by either literature reviewed (see Literature Survey, next).</a:t>
            </a:r>
            <a:endParaRPr lang="en-US" dirty="0"/>
          </a:p>
          <a:p>
            <a:pPr marL="213360" indent="-156718" algn="l">
              <a:lnSpc>
                <a:spcPts val="231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price-prediction or market-manipulation tool. We study individual account behavior, not price/order-book patterns.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13904" y="6256074"/>
            <a:ext cx="2333255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[1][2][3] — full references on final slide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084528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literatures reviewed, one method borrowed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0127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1 — Market manipulation / trading surveillance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051546"/>
            <a:ext cx="8219057" cy="285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Khodabandehlou &amp; Golpayegani (2022) [1] — systematic review, 52 trade-manipulation studies (2010–2020). Field concentrates almost entirely on price/order-book patterns; no study frames manipulation as per-account behavioral deviation.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Zulkifley et al. (2023) [2] — confirms Indian markets (BSE) are an active subject, pump-and-dump named explicitly — but every study operates at price/volume level. Flags: no public benchmark dataset exists for this area.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806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2 — Behavioral analytics / insider-threat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9223" y="4127032"/>
            <a:ext cx="8426091" cy="262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UEBA — per-account/entity baseline, alert on deviation — is the standard formulation across insider-threat research [3].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 (Liu, Ting &amp; Zhou, 2008) [4] is the unsupervised method of choice, reporting 91% precision/recall/F1 on the CERT insider-threat dataset [3] — the closest public analogue to our data shape. Mature, but developed almost entirely for enterprise IT security, not trading platforms.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50987" y="6256074"/>
            <a:ext cx="250106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[1][2][3][4] — full references on final slide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79562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Challenges &amp; Research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347346"/>
            <a:ext cx="10137775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Neither literature studies this combination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8540"/>
            <a:ext cx="10772475" cy="151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Market-surveillance research studies Indian markets extensively — only through price/order-book patterns. Behavioral-analytics research has a mature per-account baselining method — not applied to trading accounts. </a:t>
            </a: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combination — UEBA-style per-account detection, applied to a trading platform, with an Indian-retail framing — is the gap this project addresses.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800" y="3317246"/>
            <a:ext cx="1088339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Concrete challenges this creates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800" y="3662412"/>
            <a:ext cx="10883392" cy="930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5260" indent="-175260" algn="l">
              <a:lnSpc>
                <a:spcPts val="1783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benchmark dataset [2] — addressed via synthetic, ground-truth-labeled data, the same approach CERT itself used, for the identical reason [5].</a:t>
            </a:r>
            <a:endParaRPr lang="en-US" sz="1600" dirty="0"/>
          </a:p>
          <a:p>
            <a:pPr marL="175260" indent="-175260" algn="l">
              <a:lnSpc>
                <a:spcPts val="1783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Cross-domain transfer risk — Isolation Forest and z-score baselining are validated in enterprise security [3][4], not trading. Our evaluation phase exists to test whether that transfer holds.</a:t>
            </a:r>
            <a:endParaRPr lang="en-US" sz="1600" dirty="0"/>
          </a:p>
          <a:p>
            <a:pPr marL="175260" indent="-175260" algn="l">
              <a:lnSpc>
                <a:spcPts val="1783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Positioning honestly — not a novel algorithm; applying an established method to an under-studied intersection, and reporting real measured numbers, not claimed ones.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50987" y="6256074"/>
            <a:ext cx="250106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[2][3][4][5] — full references on final slide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00936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Project Objectives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26536" y="1421863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system commits 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26536" y="2203861"/>
            <a:ext cx="10883392" cy="30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FR-1–3: Ingest simulated trading events; maintain a rolling per-account baseline; compute a statistical (z-score) anomaly score </a:t>
            </a:r>
            <a:endParaRPr lang="en-US" sz="1600" dirty="0"/>
          </a:p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FR-4: Add an unsupervised ML layer (Isolation Forest) as a second, comparison layer, trained without labeled fraud data</a:t>
            </a:r>
            <a:endParaRPr lang="en-US" sz="1600" dirty="0"/>
          </a:p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FR-5: Combine layer outputs into one explainable 0–100 risk score with a human-readable justification </a:t>
            </a:r>
            <a:endParaRPr lang="en-US" sz="1600" dirty="0"/>
          </a:p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FR-6: Expose results via an API consumable by an analyst dashboard — </a:t>
            </a: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built; dashboard deferred</a:t>
            </a:r>
            <a:endParaRPr lang="en-US" sz="1600" dirty="0"/>
          </a:p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FR-7: Detect account takeover, API abuse, automated trading — </a:t>
            </a: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pending</a:t>
            </a:r>
            <a:endParaRPr lang="en-US" sz="1600" dirty="0"/>
          </a:p>
          <a:p>
            <a:pPr marL="190500" indent="-142875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FR-8: Evaluate against synthetic ground-truth data never exposed to the detector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56074"/>
            <a:ext cx="390072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requirement list with justification: docs/REQUIREMENTS.md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Proposed Methodology &amp;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138594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modular monolith, four layers behind clean interfaces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961026"/>
            <a:ext cx="10035713" cy="3577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Ingestion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EventSource interface, implemented by a synthetic event generator producing realistic trading events for simulated accounts.</a:t>
            </a:r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endParaRPr lang="en-US" sz="1600" dirty="0"/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rolling per-account stats using Welford's algorithm [8]; a running mean/variance per account, updated one event at a time, no full history stored.</a:t>
            </a:r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endParaRPr lang="en-US" sz="1600" dirty="0"/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z-score baseline (built) combines behavioral signals into a 0–100 risk score with a plain-English explanation; Isolation Forest (planned) as a second, ML comparison layer.</a:t>
            </a:r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endParaRPr lang="en-US" sz="1600" dirty="0"/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</a:t>
            </a:r>
            <a:r>
              <a:rPr lang="en-US" sz="16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POST /score wires the full pipeline together, request validated via </a:t>
            </a:r>
            <a:r>
              <a:rPr lang="en-US" sz="16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Pydantic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endParaRPr lang="en-US" sz="1600" dirty="0"/>
          </a:p>
          <a:p>
            <a:pPr marL="175260" indent="-175260" algn="l">
              <a:lnSpc>
                <a:spcPts val="1725"/>
              </a:lnSpc>
              <a:buSzPct val="100000"/>
              <a:buFontTx/>
              <a:buAutoNum type="arabicPeriod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 Dashboard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future scope, Review IV/V.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1778" y="4668641"/>
            <a:ext cx="1033252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modular monolith: each layer is a separate Python package behind an abstract interface — swappable without touching the rest. No premature microservices; extract only where load-tested.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1778" y="5240141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Tools: Python, FastAPI + Pydantic, pytest, Docker. scikit-learn planned for Isolation Forest (not yet added — pending sign-off).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1778" y="5602091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 rule: the detector never sees is_attack / attack_type — those fields exist only for evaluation.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56074"/>
            <a:ext cx="372025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architecture diagram &amp; component table: docs/DESIGN.md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· Results / Initial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150736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working, tested prototype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50656" y="2108538"/>
            <a:ext cx="10883392" cy="1339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event generator (3 attack types, ground-truth labeled) — done, 14 tests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 statistical feature extraction — done, 9 tests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Z-score anomaly detector, explainable 0–100 risk score — done, 9 tests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/score API endpoint, full pipeline wired end-to-end — done, 5 tests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 ML layer — next phase</a:t>
            </a:r>
            <a:endParaRPr lang="en-US" sz="1600" dirty="0"/>
          </a:p>
          <a:p>
            <a:pPr marL="175260" indent="-135763" algn="l">
              <a:lnSpc>
                <a:spcPts val="1725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099208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example — POST /score response: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risk_score 78, explanation "New device, new active hour, order size 3.4σ above baseline", attack_type_guess "account_takeover"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67422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satisfies Methodology &amp; Preliminary Implementation (min. 20% completion): requirement analysis, component selection, and a working, demonstrable prototype — TRL 3, experimental proof of concept.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56077"/>
            <a:ext cx="4606965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Run: uvicorn threat_detection.api.main:app --app-dir src --reload · docs at /docs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173023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shown; the roadmap 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40704"/>
            <a:ext cx="10883392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We've shown the core premise works end-to-end: synthetic events → behavioral features → explainable statistical risk scoring → API, with 37 passing tests and a live demo, grounded in a real, cited research gap rather than an assumed one.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800" y="3618284"/>
            <a:ext cx="10883392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182880" indent="-14249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 Forest layer — unsupervised ML comparison layer, evaluated against the statistical baseline (Jan 2027).</a:t>
            </a:r>
            <a:endParaRPr lang="en-US" sz="1600" dirty="0"/>
          </a:p>
          <a:p>
            <a:pPr marL="182880" indent="-14249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harness — real measured precision/recall/FP-rate against ground truth, turning working targets into defensible numbers.</a:t>
            </a:r>
            <a:endParaRPr lang="en-US" sz="1600" dirty="0"/>
          </a:p>
          <a:p>
            <a:pPr marL="182880" indent="-14249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 dashboard — React + WebSocket live feed, scoped for Review IV/V — not before, per rubric.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56077"/>
            <a:ext cx="4479153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Realistic, scoped future work — each item tied to a specific upcoming review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08329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citation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540408"/>
            <a:ext cx="10883392" cy="457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Khodabandehlou, S., &amp; Hashemi Golpayegani, S. A. (2022). Market manipulation detection: A systematic literature review. Expert Systems with Applications, 210, 118330. https://doi.org/10.1016/j.eswa.2022.118330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Zulkifley, M. A., Munir, A. F., Abd Sukor, M. E., &amp; Mohd Shafiai, M. H. (2023). A Survey on Stock Market Manipulation Detectors Using Artificial Intelligence. Computers, Materials &amp; Continua, 75(2), 4395–4418. https://doi.org/10.32604/cmc.2023.036094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Insider Threat Detection Using Machine Learning Approach. Applied Sciences, 13(1), 259 (2023). https://www.mdpi.com/2076-3417/13/1/259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Liu, F. T., Ting, K. M., &amp; Zhou, Z.-H. (2008). Isolation Forest. ICDM'08, 413–422. https://doi.org/10.1109/ICDM.2008.17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Glasser, J., &amp; Lindauer, B. (2013). Bridging the Gap: A Pragmatic Approach to Generating Insider Threat Data. IEEE Security and Privacy Workshops.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Fraud Detection: Latency, Features &amp; Scale — Redis Inc. engineering blog. https://redis.io/blog/real-time-fraud-detection/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SilIF: Silhouette-Augmented Isolation Forest for Unsupervised Transaction Fraud Detection (IEEE-CIS dataset). https://arxiv.org/html/2605.26135v1</a:t>
            </a:r>
            <a:endParaRPr lang="en-US" dirty="0"/>
          </a:p>
          <a:p>
            <a:pPr marL="152400" indent="-152400" algn="l">
              <a:lnSpc>
                <a:spcPts val="1600"/>
              </a:lnSpc>
              <a:buSzPct val="100000"/>
              <a:buFontTx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Welford, B. P. (1962). Note on a Method for Calculating Corrected Sums of Squares and Products. Technometrics, 4(3), 419–420. https://doi.org/10.1080/00401706.1962.10490022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800" y="6273800"/>
            <a:ext cx="71901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numeric targets in this project are cited above or explicitly flagged as our own engineering choice — see docs/REQUIREMENTS.md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T Chennai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4009" y="546371"/>
            <a:ext cx="4583981" cy="1306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8846" y="2657611"/>
            <a:ext cx="2714308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171700" y="3424634"/>
            <a:ext cx="7848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thanks to Dr. Karmel A for guidance throughout this project, and to the SCOPE School Review-II panel for their time and evaluation.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9498" y="5296036"/>
            <a:ext cx="752938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36493" y="5555059"/>
            <a:ext cx="23189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Ankit V · Tusya S · Vishal Basker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21590" y="5849677"/>
            <a:ext cx="1148755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2025</Words>
  <Application>Microsoft Office PowerPoint</Application>
  <PresentationFormat>Widescreen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Behavioral Threat Detection — Review 2</dc:title>
  <dc:subject>PptxGenJS Presentation</dc:subject>
  <dc:creator>PptxGenJS</dc:creator>
  <cp:lastModifiedBy>Ankit V</cp:lastModifiedBy>
  <cp:revision>5</cp:revision>
  <dcterms:created xsi:type="dcterms:W3CDTF">2026-09-23T05:34:45Z</dcterms:created>
  <dcterms:modified xsi:type="dcterms:W3CDTF">2026-09-23T06:42:17Z</dcterms:modified>
</cp:coreProperties>
</file>