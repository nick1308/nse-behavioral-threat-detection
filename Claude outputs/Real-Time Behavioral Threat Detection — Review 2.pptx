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38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Welcome the panel, name the project in one line, introduce the team and guide briefly, then move to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sections quickly, one sentence each, so the panel knows the shape of the talk before content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core distinction: authentication checks who you are; behavior checks whether you're acting like yourself. That gap is the whole 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literatures, reviewed for two different reasons: one gives us the domain, one gives us the method. Neither alone covers what we're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most likely to get a direct panel question: "what's actually new here?" The honest answer is domain application, not algorithmic novelty — say that plainly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stated as objectives, not promises kept in full — be upfront that FR-4 and full FR-8 evaluation are explicitly next-phase, not done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each block in order as you describe the data flow: one event goes in the top, one JSON risk score comes out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slide. If time allows, show the live /docs Swagger UI hitting /score in real time rather than just reading the JSON off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word "realistic" — this isn't a wishlist, it's the next two reviews' worth of scoped work, already reflected in DESIGN.md.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during Q&amp;A so any citation challenge can be answered by pointing directly at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warmly, thank the guide by name, and invite questions. Have the References slide ready to flip back to if a citation is challenged.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T Chennai logo"/>
          <p:cNvPicPr>
            <a:picLocks noChangeAspect="1"/>
          </p:cNvPicPr>
          <p:nvPr/>
        </p:nvPicPr>
        <p:blipFill>
          <a:blip r:embed="rId3"/>
          <a:srcRect t="5" b="5"/>
          <a:stretch/>
        </p:blipFill>
        <p:spPr>
          <a:xfrm>
            <a:off x="812800" y="318227"/>
            <a:ext cx="10490679" cy="1809817"/>
          </a:xfrm>
          <a:prstGeom prst="rect">
            <a:avLst/>
          </a:prstGeom>
          <a:solidFill>
            <a:srgbClr val="002060"/>
          </a:solidFill>
        </p:spPr>
      </p:pic>
      <p:sp>
        <p:nvSpPr>
          <p:cNvPr id="3" name="Text 0"/>
          <p:cNvSpPr/>
          <p:nvPr/>
        </p:nvSpPr>
        <p:spPr>
          <a:xfrm>
            <a:off x="812800" y="2255044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IDP REVIEW 2 · SEP 21–25, 2026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12800" y="2656351"/>
            <a:ext cx="981075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BFBF8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Real-Time Behavioral Threat Detection for Trading Systems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12800" y="3977151"/>
            <a:ext cx="9156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 UEBA-style, per-account behavioral anomaly detection platform for simulated trading systems, with explainable risk scoring.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12800" y="5340615"/>
            <a:ext cx="10566400" cy="0"/>
          </a:xfrm>
          <a:prstGeom prst="line">
            <a:avLst/>
          </a:prstGeom>
          <a:noFill/>
          <a:ln w="6350">
            <a:solidFill>
              <a:srgbClr val="2E3B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544873"/>
            <a:ext cx="559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TEAM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12800" y="5796293"/>
            <a:ext cx="55924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[Ankit V – 25BYB1170] · [Tusya S – 25BYB1155] · [Vishal Basker – 25BYB1225]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23492" y="5544873"/>
            <a:ext cx="3955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GUIDE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23492" y="5796293"/>
            <a:ext cx="395570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Dr. Karmel A, HOD, Cybersecurity, SCOPE, VIT Chennai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02 · AGENDA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4000" b="1" dirty="0">
                <a:solidFill>
                  <a:srgbClr val="14213D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What this talk covers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01416"/>
            <a:ext cx="52006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2005674"/>
            <a:ext cx="49358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0233" y="2269795"/>
            <a:ext cx="493589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4213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0233" y="2549195"/>
            <a:ext cx="493589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The problem: valid credentials, invalid behavior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5375" y="1801416"/>
            <a:ext cx="52006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9633" y="2005674"/>
            <a:ext cx="49358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79633" y="2269795"/>
            <a:ext cx="493589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4213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Literature Survey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9633" y="2549195"/>
            <a:ext cx="493589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Two literatures, and the gap between them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5975" y="3107730"/>
            <a:ext cx="52006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0233" y="3311989"/>
            <a:ext cx="49358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0233" y="3576109"/>
            <a:ext cx="493589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4213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Challenges &amp; Research Gap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0233" y="3855509"/>
            <a:ext cx="493589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What makes this hard, and where we fit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5375" y="3107730"/>
            <a:ext cx="52006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9633" y="3311989"/>
            <a:ext cx="49358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79633" y="3576109"/>
            <a:ext cx="493589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4213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79633" y="3855509"/>
            <a:ext cx="493589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What the system commits to achieving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5975" y="4414044"/>
            <a:ext cx="52006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0233" y="4618303"/>
            <a:ext cx="49358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20233" y="4882423"/>
            <a:ext cx="493589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4213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Methodology &amp;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20233" y="5161823"/>
            <a:ext cx="493589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How the pipeline is designed and why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5375" y="4414044"/>
            <a:ext cx="5200650" cy="1147564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9633" y="4618303"/>
            <a:ext cx="49358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79633" y="4882423"/>
            <a:ext cx="493589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solidFill>
                  <a:srgbClr val="14213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Results &amp; Initial Implementation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79633" y="5161823"/>
            <a:ext cx="493589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What is actually built and working today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2800" y="6256074"/>
            <a:ext cx="4778108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Real-Time Behavioral Threat Detection for Trading Systems · IDP Review 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03 · INTRODUCTION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Valid credentials do not mean valid behavior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2186253"/>
            <a:ext cx="58707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 attacker with a stolen but </a:t>
            </a:r>
            <a:r>
              <a:rPr lang="en-US" sz="1400" b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valid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password passes every login check — but in the common case, still behaves differently from the account's real owner (device, hours, order sizes). Authentication alone cannot catch this.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380053"/>
            <a:ext cx="58707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This is the premise of </a:t>
            </a:r>
            <a:r>
              <a:rPr lang="en-US" sz="1400" b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User and Entity Behavior Analytics (UEBA)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: build a behavioral baseline per account, and flag deviation from it. Well established in enterprise/insider-threat security </a:t>
            </a:r>
            <a:r>
              <a:rPr lang="en-US" sz="14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[3]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— not yet applied, in published literature, to individual trading accounts.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" y="4573853"/>
            <a:ext cx="587078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Financial market surveillance has its own mature literature — but it detects manipulation in </a:t>
            </a:r>
            <a:r>
              <a:rPr lang="en-US" sz="1400" b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price and order-book patterns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, not individual account behavior </a:t>
            </a:r>
            <a:r>
              <a:rPr lang="en-US" sz="14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[1][2]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715787" y="2455135"/>
            <a:ext cx="4663414" cy="1732227"/>
          </a:xfrm>
          <a:prstGeom prst="roundRect">
            <a:avLst>
              <a:gd name="adj" fmla="val 5865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6944387" y="2683735"/>
            <a:ext cx="4332400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WHERE WE SIT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44387" y="2968163"/>
            <a:ext cx="4332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We apply </a:t>
            </a:r>
            <a:r>
              <a:rPr lang="en-US" sz="1300" b="1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behavioral analytics' method</a:t>
            </a:r>
            <a:r>
              <a:rPr lang="en-US" sz="1300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(per-account baselining) to </a:t>
            </a:r>
            <a:r>
              <a:rPr lang="en-US" sz="1300" b="1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market surveillance's domain</a:t>
            </a:r>
            <a:r>
              <a:rPr lang="en-US" sz="1300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(trading platforms) — a combination not directly studied by either literature reviewed (see Literature Survey, next).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18962" y="4317538"/>
            <a:ext cx="4657064" cy="784357"/>
          </a:xfrm>
          <a:prstGeom prst="roundRect">
            <a:avLst>
              <a:gd name="adj" fmla="val 1254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7820" y="4496395"/>
            <a:ext cx="44283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Not a price-prediction or market-manipulation tool. We study </a:t>
            </a:r>
            <a:r>
              <a:rPr lang="en-US" sz="1200" b="1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individual account behavior</a:t>
            </a:r>
            <a:r>
              <a:rPr lang="en-US" sz="12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, not price/order-book patterns.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958461" y="6256074"/>
            <a:ext cx="2493361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[1][2][3] — full references on final slide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04 · LITERATURE SURVEY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Two literatures reviewed, one method borrowed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666810"/>
            <a:ext cx="5187950" cy="4172016"/>
          </a:xfrm>
          <a:prstGeom prst="roundRect">
            <a:avLst>
              <a:gd name="adj" fmla="val 235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1871067"/>
            <a:ext cx="4922816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b="1" kern="0" spc="5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PILLAR 1 · MARKET SURVEILLANCE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0233" y="2155495"/>
            <a:ext cx="492281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Khodabandehlou &amp; Golpayegani (2022)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[1]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— systematic review, 52 trade-manipulation studies (2010–2020). Field concentrates almost entirely on </a:t>
            </a:r>
            <a:r>
              <a:rPr lang="en-US" sz="1400" b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price/order-book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patterns; no study frames manipulation as per-account behavioral deviation.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0233" y="3158795"/>
            <a:ext cx="492281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Zulkifley et al. (2023)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[2]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— confirms Indian markets (BSE) are an active subject, pump-and-dump named explicitly — but every study operates at price/volume level. Flags: </a:t>
            </a:r>
            <a:r>
              <a:rPr lang="en-US" sz="1400" b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no public benchmark dataset exists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for this area.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88075" y="1666810"/>
            <a:ext cx="5187950" cy="4172016"/>
          </a:xfrm>
          <a:prstGeom prst="roundRect">
            <a:avLst>
              <a:gd name="adj" fmla="val 235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2333" y="1871067"/>
            <a:ext cx="4922816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b="1" kern="0" spc="5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PILLAR 2 · BEHAVIORAL ANALYTICS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92333" y="2155495"/>
            <a:ext cx="492281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UEBA — per-account/entity baseline, alert on deviation — is the </a:t>
            </a:r>
            <a:r>
              <a:rPr lang="en-US" sz="1400" b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standard formulation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across insider-threat research </a:t>
            </a:r>
            <a:r>
              <a:rPr lang="en-US" sz="14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[3]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92333" y="2701595"/>
            <a:ext cx="492281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Isolation Forest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(Liu, Ting &amp; Zhou, 2008) </a:t>
            </a:r>
            <a:r>
              <a:rPr lang="en-US" sz="14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[4]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is the unsupervised method of choice here, reporting </a:t>
            </a:r>
            <a:r>
              <a:rPr lang="en-US" sz="1400" b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91% precision/recall/F1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on the CERT insider-threat dataset </a:t>
            </a:r>
            <a:r>
              <a:rPr lang="en-US" sz="14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[3]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— the closest public analogue to our data shape. Mature, but developed almost entirely for enterprise IT security, not trading platforms.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86085" y="6256074"/>
            <a:ext cx="2670909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[1][2][3][4] — full references on final slide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05 · CHALLENGES &amp; RESEARCH GAP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9810750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3200" b="1" dirty="0">
                <a:solidFill>
                  <a:srgbClr val="FBFBF8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Neither literature studies this combination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666810"/>
            <a:ext cx="10560050" cy="1561571"/>
          </a:xfrm>
          <a:prstGeom prst="roundRect">
            <a:avLst>
              <a:gd name="adj" fmla="val 6303"/>
            </a:avLst>
          </a:prstGeom>
          <a:solidFill>
            <a:srgbClr val="1D2A4A"/>
          </a:solidFill>
          <a:ln w="6350">
            <a:solidFill>
              <a:srgbClr val="2E3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633" y="1896467"/>
            <a:ext cx="10403756" cy="1127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600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Market-surveillance research studies Indian markets extensively — only through price/order-book patterns. Behavioral-analytics research has a mature per-account baselining method — not applied to trading accounts. </a:t>
            </a:r>
            <a:r>
              <a:rPr lang="en-US" sz="1600" b="1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That combination — UEBA-style per-account detection, applied to a trading platform, with an Indian-retail framing — is the gap this project addresses.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2800" y="3460155"/>
            <a:ext cx="3420533" cy="2381845"/>
          </a:xfrm>
          <a:prstGeom prst="roundRect">
            <a:avLst>
              <a:gd name="adj" fmla="val 4266"/>
            </a:avLst>
          </a:prstGeom>
          <a:solidFill>
            <a:srgbClr val="1D2A4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637955"/>
            <a:ext cx="3156881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1. No benchmark dataset </a:t>
            </a:r>
            <a:r>
              <a:rPr lang="en-US" sz="1600" b="1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[2]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0600" y="3896984"/>
            <a:ext cx="3156881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Addressed via synthetic, ground-truth-labeled data — the same approach CERT itself used, for the identical reason </a:t>
            </a:r>
            <a:r>
              <a:rPr lang="en-US" sz="16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[5]</a:t>
            </a:r>
            <a:r>
              <a:rPr lang="en-US" sz="16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5733" y="3460155"/>
            <a:ext cx="3420533" cy="2381845"/>
          </a:xfrm>
          <a:prstGeom prst="roundRect">
            <a:avLst>
              <a:gd name="adj" fmla="val 4266"/>
            </a:avLst>
          </a:prstGeom>
          <a:solidFill>
            <a:srgbClr val="1D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63533" y="3637955"/>
            <a:ext cx="3156881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2. Cross-domain transfer risk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63533" y="3896984"/>
            <a:ext cx="3156881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Isolation Forest and z-score baselining are validated in enterprise security </a:t>
            </a:r>
            <a:r>
              <a:rPr lang="en-US" sz="16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[3][4]</a:t>
            </a:r>
            <a:r>
              <a:rPr lang="en-US" sz="16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, not trading. Our evaluation phase exists to test whether that transfer holds.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58667" y="3460155"/>
            <a:ext cx="3420533" cy="2381845"/>
          </a:xfrm>
          <a:prstGeom prst="roundRect">
            <a:avLst>
              <a:gd name="adj" fmla="val 4266"/>
            </a:avLst>
          </a:prstGeom>
          <a:solidFill>
            <a:srgbClr val="1D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136467" y="3637955"/>
            <a:ext cx="3156881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6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3. Positioning honestly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36467" y="3896984"/>
            <a:ext cx="3156881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Not a novel algorithm — applying an established method to an under-studied intersection, and reporting real measured numbers, not claimed ones.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86085" y="6256074"/>
            <a:ext cx="2670909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[2][3][4][5] — full references on final slide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06 · PROJECT OBJECTIVES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What the system commits to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464676"/>
              </p:ext>
            </p:extLst>
          </p:nvPr>
        </p:nvGraphicFramePr>
        <p:xfrm>
          <a:off x="812800" y="1718270"/>
          <a:ext cx="10566400" cy="3881650"/>
        </p:xfrm>
        <a:graphic>
          <a:graphicData uri="http://schemas.openxmlformats.org/drawingml/2006/table">
            <a:tbl>
              <a:tblPr/>
              <a:tblGrid>
                <a:gridCol w="1267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30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Objective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BFBF8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Status basis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18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FR-1–FR-3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Ingest simulated trading events; maintain a rolling per-account baseline; compute a statistical (z-score) anomaly score as an interpretable first layer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E7D4F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Built, tested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418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FR-4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Add an unsupervised ML layer (Isolation Forest) as a second, comparison layer, trained without labeled fraud data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A6D1F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Planned, post-Review-2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418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FR-5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Combine layer outputs into one explainable 0–100 risk score with a human-readable justification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E7D4F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Built, tested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0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FR-6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Expose detection results via an API consumable by an analyst dashboard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E7D4F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Built (/score), dashboard deferred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418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FR-7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Detect three concrete attack patterns: account takeover, API abuse, automated trading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2E7D4F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Built, tested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418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FR-8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Evaluate against a synthetic, ground-truth-labeled dataset never exposed to the detector itself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8A6D1F"/>
                          </a:solidFill>
                          <a:latin typeface="Times New Roman" panose="02020603050405020304" pitchFamily="18" charset="0"/>
                          <a:ea typeface="IBM Plex Sans" pitchFamily="34" charset="-122"/>
                          <a:cs typeface="Times New Roman" panose="02020603050405020304" pitchFamily="18" charset="0"/>
                        </a:rPr>
                        <a:t>Data generator built; formal evaluation harness next</a:t>
                      </a:r>
                      <a:endParaRPr lang="en-US" sz="1600" dirty="0">
                        <a:latin typeface="Times New Roman" panose="02020603050405020304" pitchFamily="18" charset="0"/>
                        <a:ea typeface="IBM Plex Sans" charset="0"/>
                        <a:cs typeface="Times New Roman" panose="02020603050405020304" pitchFamily="18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56074"/>
            <a:ext cx="4159895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Full requirement list with justification: docs/REQUIREMENTS.md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07 · PROPOSED METHODOLOGY &amp; SYSTEM ARCHITECTURE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 modular monolith, four layers behind clean interfaces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638235"/>
            <a:ext cx="5871832" cy="441920"/>
          </a:xfrm>
          <a:prstGeom prst="roundRect">
            <a:avLst>
              <a:gd name="adj" fmla="val 17243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965199" y="1752535"/>
            <a:ext cx="20971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Ingestion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985617" y="1770261"/>
            <a:ext cx="262301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EventSource interface → synthetic generator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169055"/>
            <a:ext cx="762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2800" y="2384955"/>
            <a:ext cx="5871832" cy="441920"/>
          </a:xfrm>
          <a:prstGeom prst="roundRect">
            <a:avLst>
              <a:gd name="adj" fmla="val 17243"/>
            </a:avLst>
          </a:prstGeom>
          <a:solidFill>
            <a:srgbClr val="1D2A4A"/>
          </a:solidFill>
          <a:ln/>
        </p:spPr>
      </p:sp>
      <p:sp>
        <p:nvSpPr>
          <p:cNvPr id="9" name="Text 6"/>
          <p:cNvSpPr/>
          <p:nvPr/>
        </p:nvSpPr>
        <p:spPr>
          <a:xfrm>
            <a:off x="965200" y="2499255"/>
            <a:ext cx="2433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Feature Extraction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744780" y="2516981"/>
            <a:ext cx="287107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Rolling per-account stats, Welford's algorithm </a:t>
            </a:r>
            <a:r>
              <a:rPr lang="en-US" sz="1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[8]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915776"/>
            <a:ext cx="76200" cy="127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2800" y="3131676"/>
            <a:ext cx="5871832" cy="441920"/>
          </a:xfrm>
          <a:prstGeom prst="roundRect">
            <a:avLst>
              <a:gd name="adj" fmla="val 17243"/>
            </a:avLst>
          </a:prstGeom>
          <a:solidFill>
            <a:srgbClr val="26355C"/>
          </a:solidFill>
          <a:ln/>
        </p:spPr>
      </p:sp>
      <p:sp>
        <p:nvSpPr>
          <p:cNvPr id="13" name="Text 9"/>
          <p:cNvSpPr/>
          <p:nvPr/>
        </p:nvSpPr>
        <p:spPr>
          <a:xfrm>
            <a:off x="965200" y="3245976"/>
            <a:ext cx="20971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608123" y="3263702"/>
            <a:ext cx="301183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Z-score baseline (built) + Isolation Forest (planned)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662496"/>
            <a:ext cx="76200" cy="127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12800" y="3878396"/>
            <a:ext cx="5871832" cy="441920"/>
          </a:xfrm>
          <a:prstGeom prst="roundRect">
            <a:avLst>
              <a:gd name="adj" fmla="val 17243"/>
            </a:avLst>
          </a:prstGeom>
          <a:solidFill>
            <a:srgbClr val="2E3B5C"/>
          </a:solidFill>
          <a:ln/>
        </p:spPr>
      </p:sp>
      <p:sp>
        <p:nvSpPr>
          <p:cNvPr id="17" name="Text 12"/>
          <p:cNvSpPr/>
          <p:nvPr/>
        </p:nvSpPr>
        <p:spPr>
          <a:xfrm>
            <a:off x="965200" y="3992696"/>
            <a:ext cx="16831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API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279628" y="4010422"/>
            <a:ext cx="130340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FastAPI · POST /score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4409216"/>
            <a:ext cx="76200" cy="1270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5975" y="4628291"/>
            <a:ext cx="5865482" cy="444037"/>
          </a:xfrm>
          <a:prstGeom prst="roundRect">
            <a:avLst>
              <a:gd name="adj" fmla="val 16446"/>
            </a:avLst>
          </a:prstGeom>
          <a:solidFill>
            <a:srgbClr val="FFFFFF"/>
          </a:solidFill>
          <a:ln w="6350">
            <a:solidFill>
              <a:srgbClr val="C9A24B"/>
            </a:solidFill>
            <a:prstDash val="dash"/>
          </a:ln>
        </p:spPr>
      </p:sp>
      <p:sp>
        <p:nvSpPr>
          <p:cNvPr id="21" name="Text 15"/>
          <p:cNvSpPr/>
          <p:nvPr/>
        </p:nvSpPr>
        <p:spPr>
          <a:xfrm>
            <a:off x="969432" y="4667053"/>
            <a:ext cx="2429375" cy="315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8A6D1F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Analyst Dashboard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270075" y="4757342"/>
            <a:ext cx="2308724" cy="207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8A6D1F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Future scope — Review IV/V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6865607" y="1874906"/>
            <a:ext cx="4510418" cy="1210469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044465" y="2053763"/>
            <a:ext cx="4277283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kern="0" spc="5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WHY MODULAR MONOLITH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044465" y="2249289"/>
            <a:ext cx="4277283" cy="682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Each layer is a separate Python package behind an abstract interface — swappable without touching the rest. No premature microservices; extract only where load-tested.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6865607" y="3193324"/>
            <a:ext cx="4510418" cy="991394"/>
          </a:xfrm>
          <a:prstGeom prst="roundRect">
            <a:avLst>
              <a:gd name="adj" fmla="val 992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044465" y="3280634"/>
            <a:ext cx="4277283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kern="0" spc="5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TOOLS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044465" y="3466902"/>
            <a:ext cx="4277283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Python, FastAPI + Pydantic, pytest, Docker. scikit-learn planned for Isolation Forest (not yet added — pending sign-off).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6865607" y="4292668"/>
            <a:ext cx="4510418" cy="1312598"/>
          </a:xfrm>
          <a:prstGeom prst="roundRect">
            <a:avLst>
              <a:gd name="adj" fmla="val 749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019065" y="4446126"/>
            <a:ext cx="432960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kern="0" spc="5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GROUND RULE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7019065" y="4641652"/>
            <a:ext cx="4329607" cy="835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The detector never sees is_attack / attack_type — those fields exist only for evaluation. "Rolling per-account" = a running mean/variance per account, updated one event at a time, no full history stored.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812800" y="6256074"/>
            <a:ext cx="4089107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05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Full architecture diagram &amp; component table: docs/DESIGN.md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7008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08 · RESULTS / INITIAL IMPLEMENTATION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075136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A working, tested prototype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638235"/>
            <a:ext cx="5194300" cy="1099741"/>
          </a:xfrm>
          <a:prstGeom prst="roundRect">
            <a:avLst>
              <a:gd name="adj" fmla="val 9239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816035"/>
            <a:ext cx="4983861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3600" b="1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37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0600" y="2364649"/>
            <a:ext cx="4983861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passing tests across ingestion, features, detection, and API layers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839576"/>
          <a:ext cx="5194300" cy="2529087"/>
        </p:xfrm>
        <a:graphic>
          <a:graphicData uri="http://schemas.openxmlformats.org/drawingml/2006/table">
            <a:tbl>
              <a:tblPr/>
              <a:tblGrid>
                <a:gridCol w="2856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286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BFBF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Tests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743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event generator (3 attack types)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14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286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Rolling statistical feature extraction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43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Z-score anomaly detector, explainable score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743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 /score endpoint, full pipeline wired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2E7D4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286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Isolation Forest layer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8A6D1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Next phase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B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88075" y="1641410"/>
            <a:ext cx="5187950" cy="183316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6933" y="1820267"/>
            <a:ext cx="4975140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kern="0" spc="5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LIVE EXAMPLE — POST /SCORE RESPONSE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66933" y="2015796"/>
            <a:ext cx="4975140" cy="1305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  "risk_score": 78,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  "explanation": "New device, new active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  hour, order size 3.4σ above baseline",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  "attack_type_guess": "account_takeover"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88075" y="3582526"/>
            <a:ext cx="5187950" cy="1210469"/>
          </a:xfrm>
          <a:prstGeom prst="roundRect">
            <a:avLst>
              <a:gd name="adj" fmla="val 813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66933" y="3761383"/>
            <a:ext cx="4975140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b="1" kern="0" spc="5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THIS SATISFIES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66933" y="3956912"/>
            <a:ext cx="4975140" cy="682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Methodology &amp; Preliminary Implementation (min. 20% completion): requirement analysis, component selection, and a working, demonstrable prototype — TRL 3, experimental proof of concept.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12800" y="6256077"/>
            <a:ext cx="5188456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Run: uvicorn threat_detection.api.main:app --app-dir src --reload · docs at /docs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3873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CONCLUSION &amp; FUTURE 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43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3600" b="1" dirty="0">
                <a:solidFill>
                  <a:srgbClr val="FBFBF8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The roadmap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1663638"/>
            <a:ext cx="10566400" cy="937816"/>
          </a:xfrm>
          <a:prstGeom prst="roundRect">
            <a:avLst>
              <a:gd name="adj" fmla="val 10834"/>
            </a:avLst>
          </a:prstGeom>
          <a:solidFill>
            <a:srgbClr val="1D2A4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66838"/>
            <a:ext cx="10464800" cy="5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600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We've shown the core premise works end-to-end: synthetic events → behavioral features → explainable statistical risk scoring → API, with 37 passing tests and a live demo, grounded in a real, cited research gap rather than an assumed one.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2800" y="2830054"/>
            <a:ext cx="3420533" cy="3011951"/>
          </a:xfrm>
          <a:prstGeom prst="roundRect">
            <a:avLst>
              <a:gd name="adj" fmla="val 3373"/>
            </a:avLst>
          </a:prstGeom>
          <a:solidFill>
            <a:srgbClr val="1D2A4A"/>
          </a:solidFill>
          <a:ln/>
        </p:spPr>
      </p:sp>
      <p:pic>
        <p:nvPicPr>
          <p:cNvPr id="7" name="Image 0" descr="Char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7900" y="2995154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7900" y="3287254"/>
            <a:ext cx="3183043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Isolation Forest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77900" y="3555206"/>
            <a:ext cx="3183043" cy="163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Unsupervised ML comparison layer, evaluated against the statistical baseline (Jan 2027).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85733" y="2830054"/>
            <a:ext cx="3420533" cy="3011951"/>
          </a:xfrm>
          <a:prstGeom prst="roundRect">
            <a:avLst>
              <a:gd name="adj" fmla="val 3373"/>
            </a:avLst>
          </a:prstGeom>
          <a:solidFill>
            <a:srgbClr val="1D2A4A"/>
          </a:solidFill>
          <a:ln/>
        </p:spPr>
      </p:sp>
      <p:pic>
        <p:nvPicPr>
          <p:cNvPr id="11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0833" y="2995154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0833" y="3287254"/>
            <a:ext cx="3183043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Evaluation harness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50833" y="3555205"/>
            <a:ext cx="3255433" cy="212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Real measured precision/recall/FP-rate against ground truth — turning working targets into defensible numbers.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958667" y="2830054"/>
            <a:ext cx="3420533" cy="3011951"/>
          </a:xfrm>
          <a:prstGeom prst="roundRect">
            <a:avLst>
              <a:gd name="adj" fmla="val 3373"/>
            </a:avLst>
          </a:prstGeom>
          <a:solidFill>
            <a:srgbClr val="1D2A4A"/>
          </a:solidFill>
          <a:ln/>
        </p:spPr>
      </p:sp>
      <p:pic>
        <p:nvPicPr>
          <p:cNvPr id="15" name="Image 2" descr="User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3767" y="2995154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3767" y="3287254"/>
            <a:ext cx="3183043" cy="229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Analyst dashboard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8123767" y="3555205"/>
            <a:ext cx="3183043" cy="1991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React + WebSocket live feed, scoped for Review IV/V — not before, per rubric.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12800" y="6256077"/>
            <a:ext cx="4900129" cy="220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Realistic, scoped future work — each item tied to a specific upcoming review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44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kern="0" spc="100" dirty="0">
                <a:solidFill>
                  <a:srgbClr val="C9A24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REFERENCES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101050"/>
            <a:ext cx="10883392" cy="626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Full citation list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1638238"/>
            <a:ext cx="10883392" cy="408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ts val="2013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Khodabandehlou, S., &amp; Hashemi Golpayegani, S. A. (2022). Market manipulation detection: A systematic literature review. </a:t>
            </a:r>
            <a:r>
              <a:rPr lang="en-US" sz="1400" i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Expert Systems with Applications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, 210, 118330. https://doi.org/10.1016/j.eswa.2022.118330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013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Zulkifley, M. A., Munir, A. F., Abd Sukor, M. E., &amp; Mohd Shafiai, M. H. (2023). A Survey on Stock Market Manipulation Detectors Using Artificial Intelligence. </a:t>
            </a:r>
            <a:r>
              <a:rPr lang="en-US" sz="1400" i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Computers, Materials &amp; Continua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, 75(2), 4395–4418. https://doi.org/10.32604/cmc.2023.036094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013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Insider Threat Detection Using Machine Learning Approach. </a:t>
            </a:r>
            <a:r>
              <a:rPr lang="en-US" sz="1400" i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Applied Sciences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, 13(1), 259 (2023). https://www.mdpi.com/2076-3417/13/1/259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013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Liu, F. T., Ting, K. M., &amp; Zhou, Z.-H. (2008). Isolation Forest. </a:t>
            </a:r>
            <a:r>
              <a:rPr lang="en-US" sz="1400" i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ICDM'08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, 413–422. https://doi.org/10.1109/ICDM.2008.17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013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Glasser, J., &amp; Lindauer, B. (2013). Bridging the Gap: A Pragmatic Approach to Generating Insider Threat Data. </a:t>
            </a:r>
            <a:r>
              <a:rPr lang="en-US" sz="1400" i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IEEE Security and Privacy Workshops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013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Real-Time Fraud Detection: Latency, Features &amp; Scale — Redis Inc. engineering blog. https://redis.io/blog/real-time-fraud-detection/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013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SilIF: Silhouette-Augmented Isolation Forest for Unsupervised Transaction Fraud Detection (IEEE-CIS dataset). https://arxiv.org/html/2605.26135v1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013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Welford, B. P. (1962). Note on a Method for Calculating Corrected Sums of Squares and Products. </a:t>
            </a:r>
            <a:r>
              <a:rPr lang="en-US" sz="1400" i="1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Technometrics</a:t>
            </a:r>
            <a:r>
              <a:rPr lang="en-US" sz="1400" dirty="0">
                <a:solidFill>
                  <a:srgbClr val="2A355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, 4(3), 419–420. https://doi.org/10.1080/00401706.1962.10490022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6256077"/>
            <a:ext cx="8549729" cy="318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All numeric targets in this project are cited above or explicitly flagged as our own engineering choice — see docs/REQUIREMENTS.md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T Chennai logo"/>
          <p:cNvPicPr>
            <a:picLocks noChangeAspect="1"/>
          </p:cNvPicPr>
          <p:nvPr/>
        </p:nvPicPr>
        <p:blipFill>
          <a:blip r:embed="rId3">
            <a:alphaModFix/>
          </a:blip>
          <a:srcRect t="2" b="2"/>
          <a:stretch/>
        </p:blipFill>
        <p:spPr>
          <a:xfrm>
            <a:off x="0" y="0"/>
            <a:ext cx="12191999" cy="22126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82949" y="2460228"/>
            <a:ext cx="322610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BFBF8"/>
                </a:solidFill>
                <a:latin typeface="Times New Roman" panose="02020603050405020304" pitchFamily="18" charset="0"/>
                <a:ea typeface="Source Serif 4" pitchFamily="34" charset="-122"/>
                <a:cs typeface="Times New Roman" panose="02020603050405020304" pitchFamily="18" charset="0"/>
              </a:rPr>
              <a:t>Thank 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171700" y="3308548"/>
            <a:ext cx="78486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With thanks to </a:t>
            </a:r>
            <a:r>
              <a:rPr lang="en-US" sz="1500" b="1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Dr. Karmel A</a:t>
            </a:r>
            <a:r>
              <a:rPr lang="en-US" sz="1500" dirty="0">
                <a:solidFill>
                  <a:srgbClr val="BFD8D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for guidance throughout this project, and to the SCOPE School Review-II panel for their time and evaluation.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661892" y="4987596"/>
            <a:ext cx="2868150" cy="0"/>
          </a:xfrm>
          <a:prstGeom prst="line">
            <a:avLst/>
          </a:prstGeom>
          <a:noFill/>
          <a:ln w="6350">
            <a:solidFill>
              <a:srgbClr val="2E3B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94470" y="5191857"/>
            <a:ext cx="12029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kern="0" spc="5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PROJECT TEAM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18870" y="5494077"/>
            <a:ext cx="295419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FBFBF8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[Ankit V] · [Tusya S] · [Vishal Basker]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398426" y="5831880"/>
            <a:ext cx="1395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A94AD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Questions welcome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2032</Words>
  <Application>Microsoft Office PowerPoint</Application>
  <PresentationFormat>Widescreen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IBM Plex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Behavioral Threat Detection — Review 2</dc:title>
  <dc:subject>PptxGenJS Presentation</dc:subject>
  <dc:creator>PptxGenJS</dc:creator>
  <cp:lastModifiedBy>Ankit V</cp:lastModifiedBy>
  <cp:revision>3</cp:revision>
  <dcterms:created xsi:type="dcterms:W3CDTF">2026-09-20T15:27:19Z</dcterms:created>
  <dcterms:modified xsi:type="dcterms:W3CDTF">2026-09-23T03:20:49Z</dcterms:modified>
</cp:coreProperties>
</file>